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Pragmatica Bold" charset="1" panose="020B0703040502020204"/>
      <p:regular r:id="rId24"/>
    </p:embeddedFont>
    <p:embeddedFont>
      <p:font typeface="Codec Pro" charset="1" panose="000005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17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8.png" Type="http://schemas.openxmlformats.org/officeDocument/2006/relationships/image"/><Relationship Id="rId5" Target="../media/image19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04166" y="6111542"/>
            <a:ext cx="10981800" cy="109818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A5E">
                <a:alpha val="6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10366" y="-6806342"/>
            <a:ext cx="10981800" cy="109818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7667">
                <a:alpha val="6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20818" y="959392"/>
            <a:ext cx="17046364" cy="8368215"/>
          </a:xfrm>
          <a:custGeom>
            <a:avLst/>
            <a:gdLst/>
            <a:ahLst/>
            <a:cxnLst/>
            <a:rect r="r" b="b" t="t" l="l"/>
            <a:pathLst>
              <a:path h="8368215" w="17046364">
                <a:moveTo>
                  <a:pt x="0" y="0"/>
                </a:moveTo>
                <a:lnTo>
                  <a:pt x="17046364" y="0"/>
                </a:lnTo>
                <a:lnTo>
                  <a:pt x="17046364" y="8368216"/>
                </a:lnTo>
                <a:lnTo>
                  <a:pt x="0" y="83682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83890" y="2205390"/>
            <a:ext cx="276935" cy="276935"/>
          </a:xfrm>
          <a:custGeom>
            <a:avLst/>
            <a:gdLst/>
            <a:ahLst/>
            <a:cxnLst/>
            <a:rect r="r" b="b" t="t" l="l"/>
            <a:pathLst>
              <a:path h="276935" w="276935">
                <a:moveTo>
                  <a:pt x="0" y="0"/>
                </a:moveTo>
                <a:lnTo>
                  <a:pt x="276935" y="0"/>
                </a:lnTo>
                <a:lnTo>
                  <a:pt x="276935" y="276936"/>
                </a:lnTo>
                <a:lnTo>
                  <a:pt x="0" y="276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65642" y="3986804"/>
            <a:ext cx="13556715" cy="2048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63"/>
              </a:lnSpc>
            </a:pPr>
            <a:r>
              <a:rPr lang="en-US" b="true" sz="11973">
                <a:solidFill>
                  <a:srgbClr val="52391E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FRESHMART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57356" y="5959142"/>
            <a:ext cx="12373287" cy="837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61"/>
              </a:lnSpc>
            </a:pPr>
            <a:r>
              <a:rPr lang="en-US" sz="4543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By Davi Raditya Pandiangan (202410715228)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80639" y="2093993"/>
            <a:ext cx="9501356" cy="42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32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Tugas Besar Pemrograman Web | F4A4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04166" y="6111542"/>
            <a:ext cx="10981800" cy="109818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A5E">
                <a:alpha val="6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10366" y="-6806342"/>
            <a:ext cx="10981800" cy="109818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7667">
                <a:alpha val="6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20818" y="959392"/>
            <a:ext cx="17046364" cy="8368215"/>
          </a:xfrm>
          <a:custGeom>
            <a:avLst/>
            <a:gdLst/>
            <a:ahLst/>
            <a:cxnLst/>
            <a:rect r="r" b="b" t="t" l="l"/>
            <a:pathLst>
              <a:path h="8368215" w="17046364">
                <a:moveTo>
                  <a:pt x="0" y="0"/>
                </a:moveTo>
                <a:lnTo>
                  <a:pt x="17046364" y="0"/>
                </a:lnTo>
                <a:lnTo>
                  <a:pt x="17046364" y="8368216"/>
                </a:lnTo>
                <a:lnTo>
                  <a:pt x="0" y="83682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40899" y="3620960"/>
            <a:ext cx="7633249" cy="1127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8"/>
              </a:lnSpc>
            </a:pPr>
            <a:r>
              <a:rPr lang="en-US" sz="6606" b="true">
                <a:solidFill>
                  <a:srgbClr val="52391E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LATAR BELAKANG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4196611" y="3617429"/>
            <a:ext cx="918246" cy="1112412"/>
          </a:xfrm>
          <a:custGeom>
            <a:avLst/>
            <a:gdLst/>
            <a:ahLst/>
            <a:cxnLst/>
            <a:rect r="r" b="b" t="t" l="l"/>
            <a:pathLst>
              <a:path h="1112412" w="918246">
                <a:moveTo>
                  <a:pt x="918246" y="0"/>
                </a:moveTo>
                <a:lnTo>
                  <a:pt x="0" y="0"/>
                </a:lnTo>
                <a:lnTo>
                  <a:pt x="0" y="1112412"/>
                </a:lnTo>
                <a:lnTo>
                  <a:pt x="918246" y="1112412"/>
                </a:lnTo>
                <a:lnTo>
                  <a:pt x="918246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3240899" y="4729841"/>
            <a:ext cx="10677983" cy="0"/>
          </a:xfrm>
          <a:prstGeom prst="line">
            <a:avLst/>
          </a:prstGeom>
          <a:ln cap="flat" w="19050">
            <a:solidFill>
              <a:srgbClr val="6B50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15783890" y="2205390"/>
            <a:ext cx="276935" cy="276935"/>
          </a:xfrm>
          <a:custGeom>
            <a:avLst/>
            <a:gdLst/>
            <a:ahLst/>
            <a:cxnLst/>
            <a:rect r="r" b="b" t="t" l="l"/>
            <a:pathLst>
              <a:path h="276935" w="276935">
                <a:moveTo>
                  <a:pt x="0" y="0"/>
                </a:moveTo>
                <a:lnTo>
                  <a:pt x="276935" y="0"/>
                </a:lnTo>
                <a:lnTo>
                  <a:pt x="276935" y="276936"/>
                </a:lnTo>
                <a:lnTo>
                  <a:pt x="0" y="2769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0">
            <a:off x="16317266" y="8091485"/>
            <a:ext cx="497377" cy="497377"/>
          </a:xfrm>
          <a:custGeom>
            <a:avLst/>
            <a:gdLst/>
            <a:ahLst/>
            <a:cxnLst/>
            <a:rect r="r" b="b" t="t" l="l"/>
            <a:pathLst>
              <a:path h="497377" w="497377">
                <a:moveTo>
                  <a:pt x="497377" y="0"/>
                </a:moveTo>
                <a:lnTo>
                  <a:pt x="0" y="0"/>
                </a:lnTo>
                <a:lnTo>
                  <a:pt x="0" y="497377"/>
                </a:lnTo>
                <a:lnTo>
                  <a:pt x="497377" y="497377"/>
                </a:lnTo>
                <a:lnTo>
                  <a:pt x="49737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20818" y="4940865"/>
            <a:ext cx="8362464" cy="2427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Tingginya Kebutuhan Bahan Pangan Segar: Sayuran, buah-buahan, dan daging segar merupakan kebutuhan pokok harian yang penting bagi kesehatan.</a:t>
            </a:r>
          </a:p>
          <a:p>
            <a:pPr algn="just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Keterbatasan Mobilitas &amp; Waktu: Masyarakat perkotaan seringkali tidak memiliki waktu luang untuk berbelanja secara langsung.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983282" y="4863780"/>
            <a:ext cx="7333984" cy="2827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Peluang Digitalisasi Pasar Lokal: Masih minimnya platform e-commerce yang menghubungkan penjual/petani lokal secara langsung dengan pembeli.</a:t>
            </a:r>
          </a:p>
          <a:p>
            <a:pPr algn="l" marL="496571" indent="-248285" lvl="1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Solusi: FreshMart Online hadir sebagai platform belanja bahan pangan segar secara online, aman, cepat, dan otomatis.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80639" y="2093993"/>
            <a:ext cx="5601725" cy="42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32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Tugas Besar Pemrograman Web | F4A4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9621" y="8052153"/>
            <a:ext cx="1205198" cy="536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9"/>
              </a:lnSpc>
            </a:pPr>
            <a:r>
              <a:rPr lang="en-US" sz="2870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04166" y="6111542"/>
            <a:ext cx="10981800" cy="109818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A5E">
                <a:alpha val="6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10366" y="-6806342"/>
            <a:ext cx="10981800" cy="109818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7667">
                <a:alpha val="6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20818" y="959392"/>
            <a:ext cx="17046364" cy="8368215"/>
          </a:xfrm>
          <a:custGeom>
            <a:avLst/>
            <a:gdLst/>
            <a:ahLst/>
            <a:cxnLst/>
            <a:rect r="r" b="b" t="t" l="l"/>
            <a:pathLst>
              <a:path h="8368215" w="17046364">
                <a:moveTo>
                  <a:pt x="0" y="0"/>
                </a:moveTo>
                <a:lnTo>
                  <a:pt x="17046364" y="0"/>
                </a:lnTo>
                <a:lnTo>
                  <a:pt x="17046364" y="8368216"/>
                </a:lnTo>
                <a:lnTo>
                  <a:pt x="0" y="83682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40899" y="3473582"/>
            <a:ext cx="9871432" cy="1127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8"/>
              </a:lnSpc>
            </a:pPr>
            <a:r>
              <a:rPr lang="en-US" sz="6606" b="true">
                <a:solidFill>
                  <a:srgbClr val="52391E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TUJUAN DAN MANFAAT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989256" y="3470051"/>
            <a:ext cx="1332956" cy="1112412"/>
          </a:xfrm>
          <a:custGeom>
            <a:avLst/>
            <a:gdLst/>
            <a:ahLst/>
            <a:cxnLst/>
            <a:rect r="r" b="b" t="t" l="l"/>
            <a:pathLst>
              <a:path h="1112412" w="1332956">
                <a:moveTo>
                  <a:pt x="0" y="0"/>
                </a:moveTo>
                <a:lnTo>
                  <a:pt x="1332956" y="0"/>
                </a:lnTo>
                <a:lnTo>
                  <a:pt x="1332956" y="1112412"/>
                </a:lnTo>
                <a:lnTo>
                  <a:pt x="0" y="11124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3240899" y="4582463"/>
            <a:ext cx="10677983" cy="0"/>
          </a:xfrm>
          <a:prstGeom prst="line">
            <a:avLst/>
          </a:prstGeom>
          <a:ln cap="flat" w="19050">
            <a:solidFill>
              <a:srgbClr val="6B50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028700" y="4716340"/>
            <a:ext cx="15386607" cy="2884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Tujuan: Merancang dan membangun aplikasi web e-commerce produk segar yang andal menggunakan bahasa pemrograman PHP Native (PDO) dan database MySQL.</a:t>
            </a:r>
          </a:p>
          <a:p>
            <a:pPr algn="just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Manfaat bagi Pembeli: Kemudahan berbelanja produk berkualitas dari rumah dengan transparansi biaya pengiriman dan ulasan produk yang tepercaya.</a:t>
            </a:r>
          </a:p>
          <a:p>
            <a:pPr algn="just" marL="582932" indent="-291466" lvl="1">
              <a:lnSpc>
                <a:spcPts val="3780"/>
              </a:lnSpc>
              <a:buFont typeface="Arial"/>
              <a:buChar char="•"/>
            </a:pPr>
            <a:r>
              <a:rPr lang="en-US" sz="2700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Manfaat bagi Penjual: Membantu memperluas jangkauan pasar, mempermudah manajemen stok barang secara digital, dan memantau pesanan masuk secara real-time.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80639" y="2093993"/>
            <a:ext cx="5741365" cy="42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32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Tugas Besar Pemrograman Web | F4A4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9621" y="8052153"/>
            <a:ext cx="1205198" cy="536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9"/>
              </a:lnSpc>
            </a:pPr>
            <a:r>
              <a:rPr lang="en-US" sz="2870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02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783890" y="2205390"/>
            <a:ext cx="276935" cy="276935"/>
          </a:xfrm>
          <a:custGeom>
            <a:avLst/>
            <a:gdLst/>
            <a:ahLst/>
            <a:cxnLst/>
            <a:rect r="r" b="b" t="t" l="l"/>
            <a:pathLst>
              <a:path h="276935" w="276935">
                <a:moveTo>
                  <a:pt x="0" y="0"/>
                </a:moveTo>
                <a:lnTo>
                  <a:pt x="276935" y="0"/>
                </a:lnTo>
                <a:lnTo>
                  <a:pt x="276935" y="276936"/>
                </a:lnTo>
                <a:lnTo>
                  <a:pt x="0" y="2769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6317266" y="8091485"/>
            <a:ext cx="497377" cy="497377"/>
          </a:xfrm>
          <a:custGeom>
            <a:avLst/>
            <a:gdLst/>
            <a:ahLst/>
            <a:cxnLst/>
            <a:rect r="r" b="b" t="t" l="l"/>
            <a:pathLst>
              <a:path h="497377" w="497377">
                <a:moveTo>
                  <a:pt x="497377" y="0"/>
                </a:moveTo>
                <a:lnTo>
                  <a:pt x="0" y="0"/>
                </a:lnTo>
                <a:lnTo>
                  <a:pt x="0" y="497377"/>
                </a:lnTo>
                <a:lnTo>
                  <a:pt x="497377" y="497377"/>
                </a:lnTo>
                <a:lnTo>
                  <a:pt x="49737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04166" y="6111542"/>
            <a:ext cx="10981800" cy="109818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A5E">
                <a:alpha val="6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10366" y="-6806342"/>
            <a:ext cx="10981800" cy="109818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7667">
                <a:alpha val="6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20818" y="959392"/>
            <a:ext cx="17046364" cy="8368215"/>
          </a:xfrm>
          <a:custGeom>
            <a:avLst/>
            <a:gdLst/>
            <a:ahLst/>
            <a:cxnLst/>
            <a:rect r="r" b="b" t="t" l="l"/>
            <a:pathLst>
              <a:path h="8368215" w="17046364">
                <a:moveTo>
                  <a:pt x="0" y="0"/>
                </a:moveTo>
                <a:lnTo>
                  <a:pt x="17046364" y="0"/>
                </a:lnTo>
                <a:lnTo>
                  <a:pt x="17046364" y="8368216"/>
                </a:lnTo>
                <a:lnTo>
                  <a:pt x="0" y="83682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40899" y="3473582"/>
            <a:ext cx="7138266" cy="1127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8"/>
              </a:lnSpc>
            </a:pPr>
            <a:r>
              <a:rPr lang="en-US" sz="6606" b="true">
                <a:solidFill>
                  <a:srgbClr val="52391E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FITUR UTAMA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4200444" y="3470051"/>
            <a:ext cx="691034" cy="1131157"/>
          </a:xfrm>
          <a:custGeom>
            <a:avLst/>
            <a:gdLst/>
            <a:ahLst/>
            <a:cxnLst/>
            <a:rect r="r" b="b" t="t" l="l"/>
            <a:pathLst>
              <a:path h="1131157" w="691034">
                <a:moveTo>
                  <a:pt x="691035" y="0"/>
                </a:moveTo>
                <a:lnTo>
                  <a:pt x="0" y="0"/>
                </a:lnTo>
                <a:lnTo>
                  <a:pt x="0" y="1131157"/>
                </a:lnTo>
                <a:lnTo>
                  <a:pt x="691035" y="1131157"/>
                </a:lnTo>
                <a:lnTo>
                  <a:pt x="69103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3240899" y="4582463"/>
            <a:ext cx="10677983" cy="0"/>
          </a:xfrm>
          <a:prstGeom prst="line">
            <a:avLst/>
          </a:prstGeom>
          <a:ln cap="flat" w="19050">
            <a:solidFill>
              <a:srgbClr val="6B503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857549" y="6307544"/>
            <a:ext cx="7898718" cy="1033740"/>
            <a:chOff x="0" y="0"/>
            <a:chExt cx="10531624" cy="137832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570819" cy="570241"/>
              <a:chOff x="0" y="0"/>
              <a:chExt cx="813624" cy="8128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813624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813624">
                    <a:moveTo>
                      <a:pt x="406812" y="0"/>
                    </a:moveTo>
                    <a:cubicBezTo>
                      <a:pt x="182136" y="0"/>
                      <a:pt x="0" y="181951"/>
                      <a:pt x="0" y="406400"/>
                    </a:cubicBezTo>
                    <a:cubicBezTo>
                      <a:pt x="0" y="630849"/>
                      <a:pt x="182136" y="812800"/>
                      <a:pt x="406812" y="812800"/>
                    </a:cubicBezTo>
                    <a:cubicBezTo>
                      <a:pt x="631488" y="812800"/>
                      <a:pt x="813624" y="630849"/>
                      <a:pt x="813624" y="406400"/>
                    </a:cubicBezTo>
                    <a:cubicBezTo>
                      <a:pt x="813624" y="181951"/>
                      <a:pt x="631488" y="0"/>
                      <a:pt x="406812" y="0"/>
                    </a:cubicBezTo>
                    <a:close/>
                  </a:path>
                </a:pathLst>
              </a:custGeom>
              <a:solidFill>
                <a:srgbClr val="EDBA5E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76277" y="0"/>
                <a:ext cx="661070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just">
                  <a:lnSpc>
                    <a:spcPts val="3261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1026002" y="-76200"/>
              <a:ext cx="9505622" cy="14545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72"/>
                </a:lnSpc>
              </a:pPr>
              <a:r>
                <a:rPr lang="en-US" sz="2051">
                  <a:solidFill>
                    <a:srgbClr val="52391E"/>
                  </a:solidFill>
                  <a:latin typeface="Codec Pro"/>
                  <a:ea typeface="Codec Pro"/>
                  <a:cs typeface="Codec Pro"/>
                  <a:sym typeface="Codec Pro"/>
                </a:rPr>
                <a:t>Katalog &amp; Kategori Produk: Pengelompokan produk ke dalam 8 kategori segar (Sayuran, Buah, Daging, Bumbu, dll.) lengkap dengan ikon representatif.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906914" y="6307544"/>
            <a:ext cx="7153912" cy="1395690"/>
            <a:chOff x="0" y="0"/>
            <a:chExt cx="9538549" cy="186092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540584" cy="570241"/>
              <a:chOff x="0" y="0"/>
              <a:chExt cx="770528" cy="812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77052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70528">
                    <a:moveTo>
                      <a:pt x="385264" y="0"/>
                    </a:moveTo>
                    <a:cubicBezTo>
                      <a:pt x="172489" y="0"/>
                      <a:pt x="0" y="181951"/>
                      <a:pt x="0" y="406400"/>
                    </a:cubicBezTo>
                    <a:cubicBezTo>
                      <a:pt x="0" y="630849"/>
                      <a:pt x="172489" y="812800"/>
                      <a:pt x="385264" y="812800"/>
                    </a:cubicBezTo>
                    <a:cubicBezTo>
                      <a:pt x="598040" y="812800"/>
                      <a:pt x="770528" y="630849"/>
                      <a:pt x="770528" y="406400"/>
                    </a:cubicBezTo>
                    <a:cubicBezTo>
                      <a:pt x="770528" y="181951"/>
                      <a:pt x="598040" y="0"/>
                      <a:pt x="385264" y="0"/>
                    </a:cubicBezTo>
                    <a:close/>
                  </a:path>
                </a:pathLst>
              </a:custGeom>
              <a:solidFill>
                <a:srgbClr val="EDBA5E"/>
              </a:solidFill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72237" y="0"/>
                <a:ext cx="626054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61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971657" y="-76200"/>
              <a:ext cx="8566892" cy="19371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72"/>
                </a:lnSpc>
              </a:pPr>
              <a:r>
                <a:rPr lang="en-US" sz="2051">
                  <a:solidFill>
                    <a:srgbClr val="52391E"/>
                  </a:solidFill>
                  <a:latin typeface="Codec Pro"/>
                  <a:ea typeface="Codec Pro"/>
                  <a:cs typeface="Codec Pro"/>
                  <a:sym typeface="Codec Pro"/>
                </a:rPr>
                <a:t>Sistem Notifikasi Pengguna: Pemberitahuan otomatis (misal: "Pesanan Dibuat", "Pembayaran Diverifikasi") yang tampil langsung pada menu notifikasi pengguna.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980639" y="2093993"/>
            <a:ext cx="5926275" cy="42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32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Tugas Besar Pemrograman Web | F4A4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9621" y="8052153"/>
            <a:ext cx="1205198" cy="536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9"/>
              </a:lnSpc>
            </a:pPr>
            <a:r>
              <a:rPr lang="en-US" sz="2870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03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5783890" y="2205390"/>
            <a:ext cx="276935" cy="276935"/>
          </a:xfrm>
          <a:custGeom>
            <a:avLst/>
            <a:gdLst/>
            <a:ahLst/>
            <a:cxnLst/>
            <a:rect r="r" b="b" t="t" l="l"/>
            <a:pathLst>
              <a:path h="276935" w="276935">
                <a:moveTo>
                  <a:pt x="0" y="0"/>
                </a:moveTo>
                <a:lnTo>
                  <a:pt x="276935" y="0"/>
                </a:lnTo>
                <a:lnTo>
                  <a:pt x="276935" y="276936"/>
                </a:lnTo>
                <a:lnTo>
                  <a:pt x="0" y="2769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true" flipV="false" rot="0">
            <a:off x="16317266" y="8091485"/>
            <a:ext cx="497377" cy="497377"/>
          </a:xfrm>
          <a:custGeom>
            <a:avLst/>
            <a:gdLst/>
            <a:ahLst/>
            <a:cxnLst/>
            <a:rect r="r" b="b" t="t" l="l"/>
            <a:pathLst>
              <a:path h="497377" w="497377">
                <a:moveTo>
                  <a:pt x="497377" y="0"/>
                </a:moveTo>
                <a:lnTo>
                  <a:pt x="0" y="0"/>
                </a:lnTo>
                <a:lnTo>
                  <a:pt x="0" y="497377"/>
                </a:lnTo>
                <a:lnTo>
                  <a:pt x="497377" y="497377"/>
                </a:lnTo>
                <a:lnTo>
                  <a:pt x="49737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8906914" y="4845470"/>
            <a:ext cx="7153912" cy="1033740"/>
            <a:chOff x="0" y="0"/>
            <a:chExt cx="9538549" cy="137832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540584" cy="570241"/>
              <a:chOff x="0" y="0"/>
              <a:chExt cx="770528" cy="8128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77052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70528">
                    <a:moveTo>
                      <a:pt x="385264" y="0"/>
                    </a:moveTo>
                    <a:cubicBezTo>
                      <a:pt x="172489" y="0"/>
                      <a:pt x="0" y="181951"/>
                      <a:pt x="0" y="406400"/>
                    </a:cubicBezTo>
                    <a:cubicBezTo>
                      <a:pt x="0" y="630849"/>
                      <a:pt x="172489" y="812800"/>
                      <a:pt x="385264" y="812800"/>
                    </a:cubicBezTo>
                    <a:cubicBezTo>
                      <a:pt x="598040" y="812800"/>
                      <a:pt x="770528" y="630849"/>
                      <a:pt x="770528" y="406400"/>
                    </a:cubicBezTo>
                    <a:cubicBezTo>
                      <a:pt x="770528" y="181951"/>
                      <a:pt x="598040" y="0"/>
                      <a:pt x="385264" y="0"/>
                    </a:cubicBezTo>
                    <a:close/>
                  </a:path>
                </a:pathLst>
              </a:custGeom>
              <a:solidFill>
                <a:srgbClr val="EDBA5E"/>
              </a:solid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72237" y="0"/>
                <a:ext cx="626054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61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971657" y="-76200"/>
              <a:ext cx="8566892" cy="14545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72"/>
                </a:lnSpc>
              </a:pPr>
              <a:r>
                <a:rPr lang="en-US" sz="2051">
                  <a:solidFill>
                    <a:srgbClr val="52391E"/>
                  </a:solidFill>
                  <a:latin typeface="Codec Pro"/>
                  <a:ea typeface="Codec Pro"/>
                  <a:cs typeface="Codec Pro"/>
                  <a:sym typeface="Codec Pro"/>
                </a:rPr>
                <a:t>AJAX Shopping Cart: Keranjang belanja interaktif yang memungkinkan penambahan, pengurangan, dan penghapusan item secara instan.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857549" y="4845470"/>
            <a:ext cx="7885625" cy="1033740"/>
            <a:chOff x="0" y="0"/>
            <a:chExt cx="10514167" cy="137832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540584" cy="570241"/>
              <a:chOff x="0" y="0"/>
              <a:chExt cx="770528" cy="8128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770528" cy="812800"/>
              </a:xfrm>
              <a:custGeom>
                <a:avLst/>
                <a:gdLst/>
                <a:ahLst/>
                <a:cxnLst/>
                <a:rect r="r" b="b" t="t" l="l"/>
                <a:pathLst>
                  <a:path h="812800" w="770528">
                    <a:moveTo>
                      <a:pt x="385264" y="0"/>
                    </a:moveTo>
                    <a:cubicBezTo>
                      <a:pt x="172489" y="0"/>
                      <a:pt x="0" y="181951"/>
                      <a:pt x="0" y="406400"/>
                    </a:cubicBezTo>
                    <a:cubicBezTo>
                      <a:pt x="0" y="630849"/>
                      <a:pt x="172489" y="812800"/>
                      <a:pt x="385264" y="812800"/>
                    </a:cubicBezTo>
                    <a:cubicBezTo>
                      <a:pt x="598040" y="812800"/>
                      <a:pt x="770528" y="630849"/>
                      <a:pt x="770528" y="406400"/>
                    </a:cubicBezTo>
                    <a:cubicBezTo>
                      <a:pt x="770528" y="181951"/>
                      <a:pt x="598040" y="0"/>
                      <a:pt x="385264" y="0"/>
                    </a:cubicBezTo>
                    <a:close/>
                  </a:path>
                </a:pathLst>
              </a:custGeom>
              <a:solidFill>
                <a:srgbClr val="EDBA5E"/>
              </a:solidFill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72237" y="0"/>
                <a:ext cx="626054" cy="7366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3261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971657" y="-76200"/>
              <a:ext cx="9542510" cy="14545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just">
                <a:lnSpc>
                  <a:spcPts val="2872"/>
                </a:lnSpc>
              </a:pPr>
              <a:r>
                <a:rPr lang="en-US" sz="2051">
                  <a:solidFill>
                    <a:srgbClr val="52391E"/>
                  </a:solidFill>
                  <a:latin typeface="Codec Pro"/>
                  <a:ea typeface="Codec Pro"/>
                  <a:cs typeface="Codec Pro"/>
                  <a:sym typeface="Codec Pro"/>
                </a:rPr>
                <a:t>Role-Based Access Control (RBAC): Sistem memisahkan hak akses dan fungsionalitas secara ketat untuk 3 aktor: Admin, Penjual (Seller), dan Pembeli (Buyer).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04166" y="6111542"/>
            <a:ext cx="10981800" cy="109818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A5E">
                <a:alpha val="6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10366" y="-6806342"/>
            <a:ext cx="10981800" cy="109818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7667">
                <a:alpha val="6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20818" y="959392"/>
            <a:ext cx="17046364" cy="8368215"/>
          </a:xfrm>
          <a:custGeom>
            <a:avLst/>
            <a:gdLst/>
            <a:ahLst/>
            <a:cxnLst/>
            <a:rect r="r" b="b" t="t" l="l"/>
            <a:pathLst>
              <a:path h="8368215" w="17046364">
                <a:moveTo>
                  <a:pt x="0" y="0"/>
                </a:moveTo>
                <a:lnTo>
                  <a:pt x="17046364" y="0"/>
                </a:lnTo>
                <a:lnTo>
                  <a:pt x="17046364" y="8368216"/>
                </a:lnTo>
                <a:lnTo>
                  <a:pt x="0" y="83682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40899" y="3473582"/>
            <a:ext cx="8967550" cy="1127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8"/>
              </a:lnSpc>
            </a:pPr>
            <a:r>
              <a:rPr lang="en-US" sz="6606" b="true">
                <a:solidFill>
                  <a:srgbClr val="52391E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ARSITEKTUR SISTEM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220328" y="3470051"/>
            <a:ext cx="826773" cy="1131157"/>
          </a:xfrm>
          <a:custGeom>
            <a:avLst/>
            <a:gdLst/>
            <a:ahLst/>
            <a:cxnLst/>
            <a:rect r="r" b="b" t="t" l="l"/>
            <a:pathLst>
              <a:path h="1131157" w="826773">
                <a:moveTo>
                  <a:pt x="0" y="0"/>
                </a:moveTo>
                <a:lnTo>
                  <a:pt x="826773" y="0"/>
                </a:lnTo>
                <a:lnTo>
                  <a:pt x="826773" y="1131157"/>
                </a:lnTo>
                <a:lnTo>
                  <a:pt x="0" y="113115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3240899" y="4582463"/>
            <a:ext cx="10677983" cy="0"/>
          </a:xfrm>
          <a:prstGeom prst="line">
            <a:avLst/>
          </a:prstGeom>
          <a:ln cap="flat" w="19050">
            <a:solidFill>
              <a:srgbClr val="6B50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499717" y="4651468"/>
            <a:ext cx="15288566" cy="2887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2"/>
              </a:lnSpc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Desain Pola: Menggunakan struktur arsitektur modular berbasis file PHP Native.</a:t>
            </a:r>
          </a:p>
          <a:p>
            <a:pPr algn="l">
              <a:lnSpc>
                <a:spcPts val="2872"/>
              </a:lnSpc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Struktur Alur Transaksi:</a:t>
            </a:r>
          </a:p>
          <a:p>
            <a:pPr algn="l" marL="442936" indent="-221468" lvl="1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Frontend (Client Side): HTML5, CSS3 Custom, Bootstrap 5.3.2, dan AJAX (JavaScript Fetch API), interaksi di browser.</a:t>
            </a:r>
          </a:p>
          <a:p>
            <a:pPr algn="l" marL="442936" indent="-221468" lvl="1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Entry Point (index.php): Mengarahkan pengunjung secara otomatis ke halaman publik awal.</a:t>
            </a:r>
          </a:p>
          <a:p>
            <a:pPr algn="l" marL="442936" indent="-221468" lvl="1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Core Controller &amp; Configuration (database.php): Menangani koneksi database aman (PDO), manajemen sesi (sessions), sistem notifikasi, dan fungsi enkripsi.</a:t>
            </a:r>
          </a:p>
          <a:p>
            <a:pPr algn="l" marL="442936" indent="-221468" lvl="1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Database (MySQL): Menyimpan seluruh data pengguna, katalog produk, riwayat transaksi, status pembayaran, ulasan, dan notifikasi.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80639" y="2093993"/>
            <a:ext cx="5553282" cy="42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32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Tugas Besar Pemrograman Web | F4A4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9621" y="8052153"/>
            <a:ext cx="1205198" cy="536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9"/>
              </a:lnSpc>
            </a:pPr>
            <a:r>
              <a:rPr lang="en-US" sz="2870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04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783890" y="2205390"/>
            <a:ext cx="276935" cy="276935"/>
          </a:xfrm>
          <a:custGeom>
            <a:avLst/>
            <a:gdLst/>
            <a:ahLst/>
            <a:cxnLst/>
            <a:rect r="r" b="b" t="t" l="l"/>
            <a:pathLst>
              <a:path h="276935" w="276935">
                <a:moveTo>
                  <a:pt x="0" y="0"/>
                </a:moveTo>
                <a:lnTo>
                  <a:pt x="276935" y="0"/>
                </a:lnTo>
                <a:lnTo>
                  <a:pt x="276935" y="276936"/>
                </a:lnTo>
                <a:lnTo>
                  <a:pt x="0" y="2769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6317266" y="8091485"/>
            <a:ext cx="497377" cy="497377"/>
          </a:xfrm>
          <a:custGeom>
            <a:avLst/>
            <a:gdLst/>
            <a:ahLst/>
            <a:cxnLst/>
            <a:rect r="r" b="b" t="t" l="l"/>
            <a:pathLst>
              <a:path h="497377" w="497377">
                <a:moveTo>
                  <a:pt x="497377" y="0"/>
                </a:moveTo>
                <a:lnTo>
                  <a:pt x="0" y="0"/>
                </a:lnTo>
                <a:lnTo>
                  <a:pt x="0" y="497377"/>
                </a:lnTo>
                <a:lnTo>
                  <a:pt x="497377" y="497377"/>
                </a:lnTo>
                <a:lnTo>
                  <a:pt x="49737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04166" y="6111542"/>
            <a:ext cx="10981800" cy="109818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A5E">
                <a:alpha val="6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10366" y="-6806342"/>
            <a:ext cx="10981800" cy="109818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7667">
                <a:alpha val="6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20818" y="959392"/>
            <a:ext cx="17046364" cy="8368215"/>
          </a:xfrm>
          <a:custGeom>
            <a:avLst/>
            <a:gdLst/>
            <a:ahLst/>
            <a:cxnLst/>
            <a:rect r="r" b="b" t="t" l="l"/>
            <a:pathLst>
              <a:path h="8368215" w="17046364">
                <a:moveTo>
                  <a:pt x="0" y="0"/>
                </a:moveTo>
                <a:lnTo>
                  <a:pt x="17046364" y="0"/>
                </a:lnTo>
                <a:lnTo>
                  <a:pt x="17046364" y="8368216"/>
                </a:lnTo>
                <a:lnTo>
                  <a:pt x="0" y="83682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83890" y="2205390"/>
            <a:ext cx="276935" cy="276935"/>
          </a:xfrm>
          <a:custGeom>
            <a:avLst/>
            <a:gdLst/>
            <a:ahLst/>
            <a:cxnLst/>
            <a:rect r="r" b="b" t="t" l="l"/>
            <a:pathLst>
              <a:path h="276935" w="276935">
                <a:moveTo>
                  <a:pt x="0" y="0"/>
                </a:moveTo>
                <a:lnTo>
                  <a:pt x="276935" y="0"/>
                </a:lnTo>
                <a:lnTo>
                  <a:pt x="276935" y="276936"/>
                </a:lnTo>
                <a:lnTo>
                  <a:pt x="0" y="276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6317266" y="8091485"/>
            <a:ext cx="497377" cy="497377"/>
          </a:xfrm>
          <a:custGeom>
            <a:avLst/>
            <a:gdLst/>
            <a:ahLst/>
            <a:cxnLst/>
            <a:rect r="r" b="b" t="t" l="l"/>
            <a:pathLst>
              <a:path h="497377" w="497377">
                <a:moveTo>
                  <a:pt x="497377" y="0"/>
                </a:moveTo>
                <a:lnTo>
                  <a:pt x="0" y="0"/>
                </a:lnTo>
                <a:lnTo>
                  <a:pt x="0" y="497377"/>
                </a:lnTo>
                <a:lnTo>
                  <a:pt x="497377" y="497377"/>
                </a:lnTo>
                <a:lnTo>
                  <a:pt x="49737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5210281" y="3203433"/>
            <a:ext cx="7867439" cy="4391991"/>
          </a:xfrm>
          <a:custGeom>
            <a:avLst/>
            <a:gdLst/>
            <a:ahLst/>
            <a:cxnLst/>
            <a:rect r="r" b="b" t="t" l="l"/>
            <a:pathLst>
              <a:path h="4391991" w="7867439">
                <a:moveTo>
                  <a:pt x="0" y="0"/>
                </a:moveTo>
                <a:lnTo>
                  <a:pt x="7867438" y="0"/>
                </a:lnTo>
                <a:lnTo>
                  <a:pt x="7867438" y="4391991"/>
                </a:lnTo>
                <a:lnTo>
                  <a:pt x="0" y="439199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980639" y="2093993"/>
            <a:ext cx="5771274" cy="42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32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Tugas Besar Pemrograman Web | F4A4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9621" y="8052153"/>
            <a:ext cx="1205198" cy="536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9"/>
              </a:lnSpc>
            </a:pPr>
            <a:r>
              <a:rPr lang="en-US" sz="2870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05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97414" y="4285003"/>
            <a:ext cx="4166449" cy="2105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52391E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DATABASE</a:t>
            </a:r>
          </a:p>
          <a:p>
            <a:pPr algn="l">
              <a:lnSpc>
                <a:spcPts val="8400"/>
              </a:lnSpc>
            </a:pPr>
            <a:r>
              <a:rPr lang="en-US" sz="6000" b="true">
                <a:solidFill>
                  <a:srgbClr val="52391E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SCHEMA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04166" y="6111542"/>
            <a:ext cx="10981800" cy="109818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A5E">
                <a:alpha val="6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10366" y="-6806342"/>
            <a:ext cx="10981800" cy="109818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7667">
                <a:alpha val="6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20818" y="959392"/>
            <a:ext cx="17046364" cy="8368215"/>
          </a:xfrm>
          <a:custGeom>
            <a:avLst/>
            <a:gdLst/>
            <a:ahLst/>
            <a:cxnLst/>
            <a:rect r="r" b="b" t="t" l="l"/>
            <a:pathLst>
              <a:path h="8368215" w="17046364">
                <a:moveTo>
                  <a:pt x="0" y="0"/>
                </a:moveTo>
                <a:lnTo>
                  <a:pt x="17046364" y="0"/>
                </a:lnTo>
                <a:lnTo>
                  <a:pt x="17046364" y="8368216"/>
                </a:lnTo>
                <a:lnTo>
                  <a:pt x="0" y="83682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83890" y="2205390"/>
            <a:ext cx="276935" cy="276935"/>
          </a:xfrm>
          <a:custGeom>
            <a:avLst/>
            <a:gdLst/>
            <a:ahLst/>
            <a:cxnLst/>
            <a:rect r="r" b="b" t="t" l="l"/>
            <a:pathLst>
              <a:path h="276935" w="276935">
                <a:moveTo>
                  <a:pt x="0" y="0"/>
                </a:moveTo>
                <a:lnTo>
                  <a:pt x="276935" y="0"/>
                </a:lnTo>
                <a:lnTo>
                  <a:pt x="276935" y="276936"/>
                </a:lnTo>
                <a:lnTo>
                  <a:pt x="0" y="276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16317266" y="8091485"/>
            <a:ext cx="497377" cy="497377"/>
          </a:xfrm>
          <a:custGeom>
            <a:avLst/>
            <a:gdLst/>
            <a:ahLst/>
            <a:cxnLst/>
            <a:rect r="r" b="b" t="t" l="l"/>
            <a:pathLst>
              <a:path h="497377" w="497377">
                <a:moveTo>
                  <a:pt x="497377" y="0"/>
                </a:moveTo>
                <a:lnTo>
                  <a:pt x="0" y="0"/>
                </a:lnTo>
                <a:lnTo>
                  <a:pt x="0" y="497377"/>
                </a:lnTo>
                <a:lnTo>
                  <a:pt x="497377" y="497377"/>
                </a:lnTo>
                <a:lnTo>
                  <a:pt x="49737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980639" y="2093993"/>
            <a:ext cx="5771274" cy="42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32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Tugas Besar Pemrograman Web | F4A4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9621" y="8052153"/>
            <a:ext cx="1205198" cy="53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9"/>
              </a:lnSpc>
            </a:pPr>
            <a:r>
              <a:rPr lang="en-US" sz="2870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06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07630" y="3141091"/>
            <a:ext cx="15288566" cy="4316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Koneksi Database: Menggunakan ekstensi PDO (PHP Data Objects) untuk keandalan dan keamanan query.</a:t>
            </a:r>
          </a:p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Daftar Tabel Utama (8 Tabel Relasional):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users: Menyimpan profil pengguna, email, hash password, alamat, dan peran (Role).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categories: Menyimpan nama kategori (Buah, Sayur, dll.) beserta ikon emoji.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products: Informasi produk, harga, stok, berat, gambar, dan relasi penjual (seller_id).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orders: Menyimpan kode unik pesanan, total belanja, ongkos kirim, alamat tujuan, dan status pesanan.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order_items: Menyimpan detail item barang yang dibeli (kuantitas, harga satuan, dan subtotal).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payments: Menyimpan status pembayaran, metode bayar (Transfer BCA/Mandiri/BNI, COD, E-Wallet), dan foto bukti transfer.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reviews: Menyimpan rating, komentar, dan gambar ulasan pembeli yang terhubung ke pesanan selesai.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notifications: Menyimpan log pesan otomatis yang dikirimkan sistem ke pengguna.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04166" y="6111542"/>
            <a:ext cx="10981800" cy="109818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A5E">
                <a:alpha val="6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10366" y="-6806342"/>
            <a:ext cx="10981800" cy="109818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7667">
                <a:alpha val="6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20818" y="959392"/>
            <a:ext cx="17046364" cy="8368215"/>
          </a:xfrm>
          <a:custGeom>
            <a:avLst/>
            <a:gdLst/>
            <a:ahLst/>
            <a:cxnLst/>
            <a:rect r="r" b="b" t="t" l="l"/>
            <a:pathLst>
              <a:path h="8368215" w="17046364">
                <a:moveTo>
                  <a:pt x="0" y="0"/>
                </a:moveTo>
                <a:lnTo>
                  <a:pt x="17046364" y="0"/>
                </a:lnTo>
                <a:lnTo>
                  <a:pt x="17046364" y="8368216"/>
                </a:lnTo>
                <a:lnTo>
                  <a:pt x="0" y="83682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40899" y="3620960"/>
            <a:ext cx="7138266" cy="1127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8"/>
              </a:lnSpc>
            </a:pPr>
            <a:r>
              <a:rPr lang="en-US" sz="6606" b="true">
                <a:solidFill>
                  <a:srgbClr val="52391E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TEKNOLOGI</a:t>
            </a:r>
          </a:p>
        </p:txBody>
      </p:sp>
      <p:sp>
        <p:nvSpPr>
          <p:cNvPr name="Freeform 10" id="10"/>
          <p:cNvSpPr/>
          <p:nvPr/>
        </p:nvSpPr>
        <p:spPr>
          <a:xfrm flipH="true" flipV="false" rot="0">
            <a:off x="14264367" y="3617429"/>
            <a:ext cx="782734" cy="1112412"/>
          </a:xfrm>
          <a:custGeom>
            <a:avLst/>
            <a:gdLst/>
            <a:ahLst/>
            <a:cxnLst/>
            <a:rect r="r" b="b" t="t" l="l"/>
            <a:pathLst>
              <a:path h="1112412" w="782734">
                <a:moveTo>
                  <a:pt x="782734" y="0"/>
                </a:moveTo>
                <a:lnTo>
                  <a:pt x="0" y="0"/>
                </a:lnTo>
                <a:lnTo>
                  <a:pt x="0" y="1112412"/>
                </a:lnTo>
                <a:lnTo>
                  <a:pt x="782734" y="1112412"/>
                </a:lnTo>
                <a:lnTo>
                  <a:pt x="78273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3240899" y="4729841"/>
            <a:ext cx="10677983" cy="0"/>
          </a:xfrm>
          <a:prstGeom prst="line">
            <a:avLst/>
          </a:prstGeom>
          <a:ln cap="flat" w="19050">
            <a:solidFill>
              <a:srgbClr val="6B50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620818" y="4913637"/>
            <a:ext cx="15708257" cy="2363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Backend: PHP 8.x Native (Struktur modular, Object-Oriented Database Connection via PDO).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Database: MySQL 8.x / MariaDB (Menerapkan relasi Foreign Key dan ON DELETE CASCADE untuk konsistensi data).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Frontend CSS Framework: Bootstrap 5.3.2 (Menjamin antarmuka responsif dan ramah di layar mobile/tablet).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Frontend Scripting: JavaScript ES6 (Fetch API untuk penanganan keranjang AJAX).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Library Pendukung: Font Awesome 6.5.0 (Untuk ikon-ikon navigasi dan dasbor).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Server Lokal: Apache &amp; MySQL Server melalui XAMPP Control Panel.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80639" y="2093993"/>
            <a:ext cx="5736520" cy="42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32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Tugas Besar Pemrograman Web | F4A4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9621" y="8052153"/>
            <a:ext cx="1205198" cy="53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9"/>
              </a:lnSpc>
            </a:pPr>
            <a:r>
              <a:rPr lang="en-US" sz="2870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07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783890" y="2205390"/>
            <a:ext cx="276935" cy="276935"/>
          </a:xfrm>
          <a:custGeom>
            <a:avLst/>
            <a:gdLst/>
            <a:ahLst/>
            <a:cxnLst/>
            <a:rect r="r" b="b" t="t" l="l"/>
            <a:pathLst>
              <a:path h="276935" w="276935">
                <a:moveTo>
                  <a:pt x="0" y="0"/>
                </a:moveTo>
                <a:lnTo>
                  <a:pt x="276935" y="0"/>
                </a:lnTo>
                <a:lnTo>
                  <a:pt x="276935" y="276936"/>
                </a:lnTo>
                <a:lnTo>
                  <a:pt x="0" y="2769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6317266" y="8091485"/>
            <a:ext cx="497377" cy="497377"/>
          </a:xfrm>
          <a:custGeom>
            <a:avLst/>
            <a:gdLst/>
            <a:ahLst/>
            <a:cxnLst/>
            <a:rect r="r" b="b" t="t" l="l"/>
            <a:pathLst>
              <a:path h="497377" w="497377">
                <a:moveTo>
                  <a:pt x="497377" y="0"/>
                </a:moveTo>
                <a:lnTo>
                  <a:pt x="0" y="0"/>
                </a:lnTo>
                <a:lnTo>
                  <a:pt x="0" y="497377"/>
                </a:lnTo>
                <a:lnTo>
                  <a:pt x="497377" y="497377"/>
                </a:lnTo>
                <a:lnTo>
                  <a:pt x="49737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04166" y="6111542"/>
            <a:ext cx="10981800" cy="109818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A5E">
                <a:alpha val="6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10366" y="-6806342"/>
            <a:ext cx="10981800" cy="109818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7667">
                <a:alpha val="6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20818" y="959392"/>
            <a:ext cx="17046364" cy="8368215"/>
          </a:xfrm>
          <a:custGeom>
            <a:avLst/>
            <a:gdLst/>
            <a:ahLst/>
            <a:cxnLst/>
            <a:rect r="r" b="b" t="t" l="l"/>
            <a:pathLst>
              <a:path h="8368215" w="17046364">
                <a:moveTo>
                  <a:pt x="0" y="0"/>
                </a:moveTo>
                <a:lnTo>
                  <a:pt x="17046364" y="0"/>
                </a:lnTo>
                <a:lnTo>
                  <a:pt x="17046364" y="8368216"/>
                </a:lnTo>
                <a:lnTo>
                  <a:pt x="0" y="83682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40899" y="3620960"/>
            <a:ext cx="18667610" cy="1127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8"/>
              </a:lnSpc>
            </a:pPr>
            <a:r>
              <a:rPr lang="en-US" sz="6606" b="true">
                <a:solidFill>
                  <a:srgbClr val="52391E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DEMO: ALUR PEMBEL</a:t>
            </a:r>
            <a:r>
              <a:rPr lang="en-US" b="true" sz="6606">
                <a:solidFill>
                  <a:srgbClr val="52391E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I 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062118" y="3617429"/>
            <a:ext cx="1213942" cy="1112412"/>
          </a:xfrm>
          <a:custGeom>
            <a:avLst/>
            <a:gdLst/>
            <a:ahLst/>
            <a:cxnLst/>
            <a:rect r="r" b="b" t="t" l="l"/>
            <a:pathLst>
              <a:path h="1112412" w="1213942">
                <a:moveTo>
                  <a:pt x="0" y="0"/>
                </a:moveTo>
                <a:lnTo>
                  <a:pt x="1213942" y="0"/>
                </a:lnTo>
                <a:lnTo>
                  <a:pt x="1213942" y="1112412"/>
                </a:lnTo>
                <a:lnTo>
                  <a:pt x="0" y="11124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3240899" y="4729841"/>
            <a:ext cx="10677983" cy="0"/>
          </a:xfrm>
          <a:prstGeom prst="line">
            <a:avLst/>
          </a:prstGeom>
          <a:ln cap="flat" w="19050">
            <a:solidFill>
              <a:srgbClr val="6B50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1965752" y="4829283"/>
            <a:ext cx="5423764" cy="2919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2936" indent="-221468" lvl="1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Pendaftaran Akun &amp; Login: Pembeli mendaftarkan akun baru dan masuk ke sistem secara aman.</a:t>
            </a:r>
          </a:p>
          <a:p>
            <a:pPr algn="just" marL="442936" indent="-221468" lvl="1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Pencarian Produk &amp; Keranjang: Pembeli dapat mencari produk di beranda, memasukkannya ke dalam keranjang, serta mengubah jumlah barang secara langsung (AJAX).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80639" y="2093993"/>
            <a:ext cx="5795495" cy="42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32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Tugas Besar Pemrograman Web | F4A4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9621" y="8052153"/>
            <a:ext cx="1205198" cy="53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9"/>
              </a:lnSpc>
            </a:pPr>
            <a:r>
              <a:rPr lang="en-US" sz="2870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08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783890" y="2205390"/>
            <a:ext cx="276935" cy="276935"/>
          </a:xfrm>
          <a:custGeom>
            <a:avLst/>
            <a:gdLst/>
            <a:ahLst/>
            <a:cxnLst/>
            <a:rect r="r" b="b" t="t" l="l"/>
            <a:pathLst>
              <a:path h="276935" w="276935">
                <a:moveTo>
                  <a:pt x="0" y="0"/>
                </a:moveTo>
                <a:lnTo>
                  <a:pt x="276935" y="0"/>
                </a:lnTo>
                <a:lnTo>
                  <a:pt x="276935" y="276936"/>
                </a:lnTo>
                <a:lnTo>
                  <a:pt x="0" y="2769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6317266" y="8091485"/>
            <a:ext cx="497377" cy="497377"/>
          </a:xfrm>
          <a:custGeom>
            <a:avLst/>
            <a:gdLst/>
            <a:ahLst/>
            <a:cxnLst/>
            <a:rect r="r" b="b" t="t" l="l"/>
            <a:pathLst>
              <a:path h="497377" w="497377">
                <a:moveTo>
                  <a:pt x="497377" y="0"/>
                </a:moveTo>
                <a:lnTo>
                  <a:pt x="0" y="0"/>
                </a:lnTo>
                <a:lnTo>
                  <a:pt x="0" y="497377"/>
                </a:lnTo>
                <a:lnTo>
                  <a:pt x="497377" y="497377"/>
                </a:lnTo>
                <a:lnTo>
                  <a:pt x="49737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106772" y="4829283"/>
            <a:ext cx="7677118" cy="2919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2936" indent="-221468" lvl="1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Checkout &amp; Pembayaran:</a:t>
            </a:r>
          </a:p>
          <a:p>
            <a:pPr algn="just" marL="885872" indent="-295291" lvl="2">
              <a:lnSpc>
                <a:spcPts val="2872"/>
              </a:lnSpc>
              <a:buAutoNum type="alphaLcPeriod" startAt="1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Mengisi alamat tujuan pengiriman di halaman checkout.</a:t>
            </a:r>
          </a:p>
          <a:p>
            <a:pPr algn="just" marL="885872" indent="-295291" lvl="2">
              <a:lnSpc>
                <a:spcPts val="2872"/>
              </a:lnSpc>
              <a:buAutoNum type="alphaLcPeriod" startAt="1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Memilih metode pembayaran (misal: Transfer BCA) dengan perhitungan biaya ongkir flat Rp 10.000.</a:t>
            </a:r>
          </a:p>
          <a:p>
            <a:pPr algn="just" marL="885872" indent="-295291" lvl="2">
              <a:lnSpc>
                <a:spcPts val="2872"/>
              </a:lnSpc>
              <a:buAutoNum type="alphaLcPeriod" startAt="1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Mengunggah bukti bayar berupa gambar/foto transfer pada menu "Pesanan Saya" untuk dikonfirmasi.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04166" y="6111542"/>
            <a:ext cx="10981800" cy="109818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A5E">
                <a:alpha val="6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10366" y="-6806342"/>
            <a:ext cx="10981800" cy="109818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7667">
                <a:alpha val="6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20818" y="959392"/>
            <a:ext cx="17046364" cy="8368215"/>
          </a:xfrm>
          <a:custGeom>
            <a:avLst/>
            <a:gdLst/>
            <a:ahLst/>
            <a:cxnLst/>
            <a:rect r="r" b="b" t="t" l="l"/>
            <a:pathLst>
              <a:path h="8368215" w="17046364">
                <a:moveTo>
                  <a:pt x="0" y="0"/>
                </a:moveTo>
                <a:lnTo>
                  <a:pt x="17046364" y="0"/>
                </a:lnTo>
                <a:lnTo>
                  <a:pt x="17046364" y="8368216"/>
                </a:lnTo>
                <a:lnTo>
                  <a:pt x="0" y="83682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40899" y="3473582"/>
            <a:ext cx="9729946" cy="1127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8"/>
              </a:lnSpc>
            </a:pPr>
            <a:r>
              <a:rPr lang="en-US" sz="6606" b="true">
                <a:solidFill>
                  <a:srgbClr val="52391E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DEMO: ALUR PE</a:t>
            </a:r>
            <a:r>
              <a:rPr lang="en-US" b="true" sz="6606">
                <a:solidFill>
                  <a:srgbClr val="52391E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NJUAL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173352" y="3470051"/>
            <a:ext cx="964765" cy="1112412"/>
          </a:xfrm>
          <a:custGeom>
            <a:avLst/>
            <a:gdLst/>
            <a:ahLst/>
            <a:cxnLst/>
            <a:rect r="r" b="b" t="t" l="l"/>
            <a:pathLst>
              <a:path h="1112412" w="964765">
                <a:moveTo>
                  <a:pt x="0" y="0"/>
                </a:moveTo>
                <a:lnTo>
                  <a:pt x="964765" y="0"/>
                </a:lnTo>
                <a:lnTo>
                  <a:pt x="964765" y="1112412"/>
                </a:lnTo>
                <a:lnTo>
                  <a:pt x="0" y="11124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3240899" y="4582463"/>
            <a:ext cx="10677983" cy="0"/>
          </a:xfrm>
          <a:prstGeom prst="line">
            <a:avLst/>
          </a:prstGeom>
          <a:ln cap="flat" w="19050">
            <a:solidFill>
              <a:srgbClr val="6B50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2" id="12"/>
          <p:cNvSpPr txBox="true"/>
          <p:nvPr/>
        </p:nvSpPr>
        <p:spPr>
          <a:xfrm rot="0">
            <a:off x="2758516" y="4758925"/>
            <a:ext cx="11414835" cy="2919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2936" indent="-221468" lvl="1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Dashboard Penjual: Memantau statistik total produk, pesanan yang masuk, pesanan yang perlu diproses, serta akumulasi omset pendapatan bersih (di luar ongkir).</a:t>
            </a:r>
          </a:p>
          <a:p>
            <a:pPr algn="l" marL="442936" indent="-221468" lvl="1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Kelola Produk (CRUD): Penjual dapat menambahkan produk baru lengkap dengan gambar, memperbarui detail produk, mengubah stok produk (misal: Tomat Merah Segar), serta menghapus produk.</a:t>
            </a:r>
          </a:p>
          <a:p>
            <a:pPr algn="l" marL="442936" indent="-221468" lvl="1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Pemrosesan Transaksi: Penjual melihat pesanan masuk yang sudah dibayar oleh pembeli, mengubah statusnya menjadi dikonfirmasi (Confirmed), dan mengirim barang (Shipped).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980639" y="2093993"/>
            <a:ext cx="5674389" cy="42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32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Tugas Besar Pemrograman Web | F4A4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9621" y="8052153"/>
            <a:ext cx="1205198" cy="53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9"/>
              </a:lnSpc>
            </a:pPr>
            <a:r>
              <a:rPr lang="en-US" sz="2870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09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5783890" y="2205390"/>
            <a:ext cx="276935" cy="276935"/>
          </a:xfrm>
          <a:custGeom>
            <a:avLst/>
            <a:gdLst/>
            <a:ahLst/>
            <a:cxnLst/>
            <a:rect r="r" b="b" t="t" l="l"/>
            <a:pathLst>
              <a:path h="276935" w="276935">
                <a:moveTo>
                  <a:pt x="0" y="0"/>
                </a:moveTo>
                <a:lnTo>
                  <a:pt x="276935" y="0"/>
                </a:lnTo>
                <a:lnTo>
                  <a:pt x="276935" y="276936"/>
                </a:lnTo>
                <a:lnTo>
                  <a:pt x="0" y="2769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true" flipV="false" rot="0">
            <a:off x="16317266" y="8091485"/>
            <a:ext cx="497377" cy="497377"/>
          </a:xfrm>
          <a:custGeom>
            <a:avLst/>
            <a:gdLst/>
            <a:ahLst/>
            <a:cxnLst/>
            <a:rect r="r" b="b" t="t" l="l"/>
            <a:pathLst>
              <a:path h="497377" w="497377">
                <a:moveTo>
                  <a:pt x="497377" y="0"/>
                </a:moveTo>
                <a:lnTo>
                  <a:pt x="0" y="0"/>
                </a:lnTo>
                <a:lnTo>
                  <a:pt x="0" y="497377"/>
                </a:lnTo>
                <a:lnTo>
                  <a:pt x="497377" y="497377"/>
                </a:lnTo>
                <a:lnTo>
                  <a:pt x="49737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04166" y="6111542"/>
            <a:ext cx="10981800" cy="109818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A5E">
                <a:alpha val="6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10366" y="-6806342"/>
            <a:ext cx="10981800" cy="109818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7667">
                <a:alpha val="6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20818" y="959392"/>
            <a:ext cx="17046364" cy="8368215"/>
          </a:xfrm>
          <a:custGeom>
            <a:avLst/>
            <a:gdLst/>
            <a:ahLst/>
            <a:cxnLst/>
            <a:rect r="r" b="b" t="t" l="l"/>
            <a:pathLst>
              <a:path h="8368215" w="17046364">
                <a:moveTo>
                  <a:pt x="0" y="0"/>
                </a:moveTo>
                <a:lnTo>
                  <a:pt x="17046364" y="0"/>
                </a:lnTo>
                <a:lnTo>
                  <a:pt x="17046364" y="8368216"/>
                </a:lnTo>
                <a:lnTo>
                  <a:pt x="0" y="83682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40899" y="3378662"/>
            <a:ext cx="12819926" cy="1127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8"/>
              </a:lnSpc>
            </a:pPr>
            <a:r>
              <a:rPr lang="en-US" sz="6606" b="true">
                <a:solidFill>
                  <a:srgbClr val="52391E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DEMO: SYSTEM AUTOMATI</a:t>
            </a:r>
            <a:r>
              <a:rPr lang="en-US" b="true" sz="6606">
                <a:solidFill>
                  <a:srgbClr val="52391E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ON</a:t>
            </a:r>
          </a:p>
        </p:txBody>
      </p:sp>
      <p:sp>
        <p:nvSpPr>
          <p:cNvPr name="AutoShape 10" id="10"/>
          <p:cNvSpPr/>
          <p:nvPr/>
        </p:nvSpPr>
        <p:spPr>
          <a:xfrm>
            <a:off x="3240899" y="4506263"/>
            <a:ext cx="10677983" cy="0"/>
          </a:xfrm>
          <a:prstGeom prst="line">
            <a:avLst/>
          </a:prstGeom>
          <a:ln cap="flat" w="19050">
            <a:solidFill>
              <a:srgbClr val="6B50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2484819" y="4613597"/>
            <a:ext cx="5903101" cy="2919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42936" indent="-221468" lvl="1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Auto Update Stok: Stok produk otomatis berkurang saat pembeli checkout, dan otomatis bertambah kembali jika pesanan dibatalkan (cancelled).</a:t>
            </a:r>
          </a:p>
          <a:p>
            <a:pPr algn="just" marL="442936" indent="-221468" lvl="1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Auto Kalkulasi Ongkir: Sistem menghitung ongkos kirim secara otomatis dengan tarif tetap (flat rate) senilai Rp 10.000 per transaksi.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80639" y="2093993"/>
            <a:ext cx="5727377" cy="42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32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Tugas Besar Pemrograman Web | F4A4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9621" y="8052153"/>
            <a:ext cx="1205198" cy="53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9"/>
              </a:lnSpc>
            </a:pPr>
            <a:r>
              <a:rPr lang="en-US" sz="2870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10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783890" y="2205390"/>
            <a:ext cx="276935" cy="276935"/>
          </a:xfrm>
          <a:custGeom>
            <a:avLst/>
            <a:gdLst/>
            <a:ahLst/>
            <a:cxnLst/>
            <a:rect r="r" b="b" t="t" l="l"/>
            <a:pathLst>
              <a:path h="276935" w="276935">
                <a:moveTo>
                  <a:pt x="0" y="0"/>
                </a:moveTo>
                <a:lnTo>
                  <a:pt x="276935" y="0"/>
                </a:lnTo>
                <a:lnTo>
                  <a:pt x="276935" y="276936"/>
                </a:lnTo>
                <a:lnTo>
                  <a:pt x="0" y="276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16317266" y="8091485"/>
            <a:ext cx="497377" cy="497377"/>
          </a:xfrm>
          <a:custGeom>
            <a:avLst/>
            <a:gdLst/>
            <a:ahLst/>
            <a:cxnLst/>
            <a:rect r="r" b="b" t="t" l="l"/>
            <a:pathLst>
              <a:path h="497377" w="497377">
                <a:moveTo>
                  <a:pt x="497377" y="0"/>
                </a:moveTo>
                <a:lnTo>
                  <a:pt x="0" y="0"/>
                </a:lnTo>
                <a:lnTo>
                  <a:pt x="0" y="497377"/>
                </a:lnTo>
                <a:lnTo>
                  <a:pt x="497377" y="497377"/>
                </a:lnTo>
                <a:lnTo>
                  <a:pt x="49737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708016" y="4613597"/>
            <a:ext cx="5903101" cy="2919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2936" indent="-221468" lvl="1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Auto Notification: Notifikasi otomatis terkirim langsung ke akun pembeli setiap kali status pesanan atau pembayaran mereka diubah oleh admin/penjual.</a:t>
            </a:r>
          </a:p>
          <a:p>
            <a:pPr algn="just" marL="442936" indent="-221468" lvl="1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Auto Generate Invoice: Sistem otomatis menghasilkan invoice belanja (faktur) resmi yang rapi dan siap dicetak oleh admin maupun pembeli.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04166" y="6111542"/>
            <a:ext cx="10981800" cy="109818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A5E">
                <a:alpha val="6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10366" y="-6806342"/>
            <a:ext cx="10981800" cy="109818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7667">
                <a:alpha val="6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20818" y="959392"/>
            <a:ext cx="17046364" cy="8368215"/>
          </a:xfrm>
          <a:custGeom>
            <a:avLst/>
            <a:gdLst/>
            <a:ahLst/>
            <a:cxnLst/>
            <a:rect r="r" b="b" t="t" l="l"/>
            <a:pathLst>
              <a:path h="8368215" w="17046364">
                <a:moveTo>
                  <a:pt x="0" y="0"/>
                </a:moveTo>
                <a:lnTo>
                  <a:pt x="17046364" y="0"/>
                </a:lnTo>
                <a:lnTo>
                  <a:pt x="17046364" y="8368216"/>
                </a:lnTo>
                <a:lnTo>
                  <a:pt x="0" y="83682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40899" y="3378662"/>
            <a:ext cx="12819926" cy="1127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8"/>
              </a:lnSpc>
            </a:pPr>
            <a:r>
              <a:rPr lang="en-US" sz="6606" b="true">
                <a:solidFill>
                  <a:srgbClr val="52391E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DEMO: ALUR ADMI</a:t>
            </a:r>
            <a:r>
              <a:rPr lang="en-US" b="true" sz="6606">
                <a:solidFill>
                  <a:srgbClr val="52391E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N</a:t>
            </a:r>
          </a:p>
        </p:txBody>
      </p:sp>
      <p:sp>
        <p:nvSpPr>
          <p:cNvPr name="AutoShape 10" id="10"/>
          <p:cNvSpPr/>
          <p:nvPr/>
        </p:nvSpPr>
        <p:spPr>
          <a:xfrm>
            <a:off x="3240899" y="4506263"/>
            <a:ext cx="10677983" cy="0"/>
          </a:xfrm>
          <a:prstGeom prst="line">
            <a:avLst/>
          </a:prstGeom>
          <a:ln cap="flat" w="19050">
            <a:solidFill>
              <a:srgbClr val="6B50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882220" y="4613597"/>
            <a:ext cx="6193757" cy="2919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2936" indent="-221468" lvl="1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Dashboard Admin: Memantau data total pengguna, grafik sebaran penjual/pembeli, pesanan yang masuk, dan total omset kotor sistem (pendapatan bersih murni tanpa mencampur biaya ongkir).</a:t>
            </a:r>
          </a:p>
          <a:p>
            <a:pPr algn="just" marL="442936" indent="-221468" lvl="1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Kelola Pengguna: Meninjau dan memverifikasi pendaftaran penjual baru agar dapat mulai berjualan, serta menghapus pengguna.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80639" y="2093993"/>
            <a:ext cx="6013487" cy="42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32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Tugas Besar Pemrograman Web | F4A4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9621" y="8052153"/>
            <a:ext cx="1205198" cy="53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9"/>
              </a:lnSpc>
            </a:pPr>
            <a:r>
              <a:rPr lang="en-US" sz="2870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11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783890" y="2205390"/>
            <a:ext cx="276935" cy="276935"/>
          </a:xfrm>
          <a:custGeom>
            <a:avLst/>
            <a:gdLst/>
            <a:ahLst/>
            <a:cxnLst/>
            <a:rect r="r" b="b" t="t" l="l"/>
            <a:pathLst>
              <a:path h="276935" w="276935">
                <a:moveTo>
                  <a:pt x="0" y="0"/>
                </a:moveTo>
                <a:lnTo>
                  <a:pt x="276935" y="0"/>
                </a:lnTo>
                <a:lnTo>
                  <a:pt x="276935" y="276936"/>
                </a:lnTo>
                <a:lnTo>
                  <a:pt x="0" y="276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16317266" y="8091485"/>
            <a:ext cx="497377" cy="497377"/>
          </a:xfrm>
          <a:custGeom>
            <a:avLst/>
            <a:gdLst/>
            <a:ahLst/>
            <a:cxnLst/>
            <a:rect r="r" b="b" t="t" l="l"/>
            <a:pathLst>
              <a:path h="497377" w="497377">
                <a:moveTo>
                  <a:pt x="497377" y="0"/>
                </a:moveTo>
                <a:lnTo>
                  <a:pt x="0" y="0"/>
                </a:lnTo>
                <a:lnTo>
                  <a:pt x="0" y="497377"/>
                </a:lnTo>
                <a:lnTo>
                  <a:pt x="497377" y="497377"/>
                </a:lnTo>
                <a:lnTo>
                  <a:pt x="49737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313108" y="4613597"/>
            <a:ext cx="7609249" cy="2919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2936" indent="-221468" lvl="1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Verifikasi Pembayaran &amp; Hapus Pesanan:</a:t>
            </a:r>
          </a:p>
          <a:p>
            <a:pPr algn="just" marL="885872" indent="-295291" lvl="2">
              <a:lnSpc>
                <a:spcPts val="2872"/>
              </a:lnSpc>
              <a:buAutoNum type="alphaLcPeriod" startAt="1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Memeriksa foto bukti transfer yang diunggah pembeli dan memberikan keputusan (Approve / Reject).</a:t>
            </a:r>
          </a:p>
          <a:p>
            <a:pPr algn="just" marL="885872" indent="-295291" lvl="2">
              <a:lnSpc>
                <a:spcPts val="2872"/>
              </a:lnSpc>
              <a:buAutoNum type="alphaLcPeriod" startAt="1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Melihat rincian barang belanjaan secara detail (nama barang &amp; kuantitas) pada halaman Kelola Pesanan.</a:t>
            </a:r>
          </a:p>
          <a:p>
            <a:pPr algn="just" marL="885872" indent="-295291" lvl="2">
              <a:lnSpc>
                <a:spcPts val="2872"/>
              </a:lnSpc>
              <a:buAutoNum type="alphaLcPeriod" startAt="1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Melakukan penghapusan pesanan secara permanen lewat tombol Hapus (Delete).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04166" y="6111542"/>
            <a:ext cx="10981800" cy="109818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A5E">
                <a:alpha val="6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10366" y="-6806342"/>
            <a:ext cx="10981800" cy="109818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7667">
                <a:alpha val="6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20818" y="959392"/>
            <a:ext cx="17046364" cy="8368215"/>
          </a:xfrm>
          <a:custGeom>
            <a:avLst/>
            <a:gdLst/>
            <a:ahLst/>
            <a:cxnLst/>
            <a:rect r="r" b="b" t="t" l="l"/>
            <a:pathLst>
              <a:path h="8368215" w="17046364">
                <a:moveTo>
                  <a:pt x="0" y="0"/>
                </a:moveTo>
                <a:lnTo>
                  <a:pt x="17046364" y="0"/>
                </a:lnTo>
                <a:lnTo>
                  <a:pt x="17046364" y="8368216"/>
                </a:lnTo>
                <a:lnTo>
                  <a:pt x="0" y="83682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40899" y="3378662"/>
            <a:ext cx="12819926" cy="1127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8"/>
              </a:lnSpc>
            </a:pPr>
            <a:r>
              <a:rPr lang="en-US" sz="6606" b="true">
                <a:solidFill>
                  <a:srgbClr val="52391E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FITUR KEAMANAN</a:t>
            </a:r>
          </a:p>
        </p:txBody>
      </p:sp>
      <p:sp>
        <p:nvSpPr>
          <p:cNvPr name="AutoShape 10" id="10"/>
          <p:cNvSpPr/>
          <p:nvPr/>
        </p:nvSpPr>
        <p:spPr>
          <a:xfrm>
            <a:off x="3240899" y="4506263"/>
            <a:ext cx="10677983" cy="0"/>
          </a:xfrm>
          <a:prstGeom prst="line">
            <a:avLst/>
          </a:prstGeom>
          <a:ln cap="flat" w="19050">
            <a:solidFill>
              <a:srgbClr val="6B50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882220" y="4613597"/>
            <a:ext cx="6193757" cy="2557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2936" indent="-221468" lvl="1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Pencegahan SQL Injection: Penggunaan Prepared Statements dan parameter binding lewat PDO di seluruh query database untuk menutup celah injeksi kode.</a:t>
            </a:r>
          </a:p>
          <a:p>
            <a:pPr algn="just" marL="442936" indent="-221468" lvl="1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Enkripsi Kata Sandi: Penggunaan algoritma satu arah yang aman menggunakan fungsi password_hash() berbasis bcrypt.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80639" y="2093993"/>
            <a:ext cx="6449471" cy="42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32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Tugas Besar Pemrograman Web | F4A4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9621" y="8052153"/>
            <a:ext cx="1205198" cy="53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9"/>
              </a:lnSpc>
            </a:pPr>
            <a:r>
              <a:rPr lang="en-US" sz="2870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12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783890" y="2205390"/>
            <a:ext cx="276935" cy="276935"/>
          </a:xfrm>
          <a:custGeom>
            <a:avLst/>
            <a:gdLst/>
            <a:ahLst/>
            <a:cxnLst/>
            <a:rect r="r" b="b" t="t" l="l"/>
            <a:pathLst>
              <a:path h="276935" w="276935">
                <a:moveTo>
                  <a:pt x="0" y="0"/>
                </a:moveTo>
                <a:lnTo>
                  <a:pt x="276935" y="0"/>
                </a:lnTo>
                <a:lnTo>
                  <a:pt x="276935" y="276936"/>
                </a:lnTo>
                <a:lnTo>
                  <a:pt x="0" y="276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16317266" y="8091485"/>
            <a:ext cx="497377" cy="497377"/>
          </a:xfrm>
          <a:custGeom>
            <a:avLst/>
            <a:gdLst/>
            <a:ahLst/>
            <a:cxnLst/>
            <a:rect r="r" b="b" t="t" l="l"/>
            <a:pathLst>
              <a:path h="497377" w="497377">
                <a:moveTo>
                  <a:pt x="497377" y="0"/>
                </a:moveTo>
                <a:lnTo>
                  <a:pt x="0" y="0"/>
                </a:lnTo>
                <a:lnTo>
                  <a:pt x="0" y="497377"/>
                </a:lnTo>
                <a:lnTo>
                  <a:pt x="497377" y="497377"/>
                </a:lnTo>
                <a:lnTo>
                  <a:pt x="49737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8313108" y="4613597"/>
            <a:ext cx="7609249" cy="3281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2936" indent="-221468" lvl="1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Pencegahan Cross-Site Scripting (XSS): Pengolahan seluruh output teks dina</a:t>
            </a: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mis di frontend menggunakan helper fungsi e() (menerapkan htmlspecialchars) agar tag HTML berbahaya tidak dieksekusi oleh browser.</a:t>
            </a:r>
          </a:p>
          <a:p>
            <a:pPr algn="just" marL="442936" indent="-221468" lvl="1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Otorisasi URL (RBAC): Penggunaan fungsi checkRole() di setiap halaman admin/penjual untuk mendepak pengguna yang mencoba mengakses halaman luar tanpa hak akses (sesi) yang sah.</a:t>
            </a:r>
          </a:p>
          <a:p>
            <a:pPr algn="just">
              <a:lnSpc>
                <a:spcPts val="2872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04166" y="6111542"/>
            <a:ext cx="10981800" cy="109818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A5E">
                <a:alpha val="6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10366" y="-6806342"/>
            <a:ext cx="10981800" cy="109818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7667">
                <a:alpha val="6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20818" y="959392"/>
            <a:ext cx="17046364" cy="8368215"/>
          </a:xfrm>
          <a:custGeom>
            <a:avLst/>
            <a:gdLst/>
            <a:ahLst/>
            <a:cxnLst/>
            <a:rect r="r" b="b" t="t" l="l"/>
            <a:pathLst>
              <a:path h="8368215" w="17046364">
                <a:moveTo>
                  <a:pt x="0" y="0"/>
                </a:moveTo>
                <a:lnTo>
                  <a:pt x="17046364" y="0"/>
                </a:lnTo>
                <a:lnTo>
                  <a:pt x="17046364" y="8368216"/>
                </a:lnTo>
                <a:lnTo>
                  <a:pt x="0" y="83682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40899" y="3378662"/>
            <a:ext cx="12819926" cy="1127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8"/>
              </a:lnSpc>
            </a:pPr>
            <a:r>
              <a:rPr lang="en-US" sz="6606" b="true">
                <a:solidFill>
                  <a:srgbClr val="52391E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PENGUJIAN SISTEM </a:t>
            </a:r>
          </a:p>
        </p:txBody>
      </p:sp>
      <p:sp>
        <p:nvSpPr>
          <p:cNvPr name="AutoShape 10" id="10"/>
          <p:cNvSpPr/>
          <p:nvPr/>
        </p:nvSpPr>
        <p:spPr>
          <a:xfrm>
            <a:off x="3240899" y="4506263"/>
            <a:ext cx="10677983" cy="0"/>
          </a:xfrm>
          <a:prstGeom prst="line">
            <a:avLst/>
          </a:prstGeom>
          <a:ln cap="flat" w="19050">
            <a:solidFill>
              <a:srgbClr val="6B50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2801466" y="4585964"/>
            <a:ext cx="12685069" cy="2974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2936" indent="-221468" lvl="1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Metode Pengujian: Menerapkan Functional &amp; Manual Testing pada seluruh alur transaksi.</a:t>
            </a:r>
          </a:p>
          <a:p>
            <a:pPr algn="just" marL="442936" indent="-221468" lvl="1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Skenario Pengujian Penting:</a:t>
            </a:r>
          </a:p>
          <a:p>
            <a:pPr algn="just" marL="885872" indent="-295291" lvl="2">
              <a:lnSpc>
                <a:spcPts val="2872"/>
              </a:lnSpc>
              <a:buAutoNum type="alphaLcPeriod" startAt="1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Uji Coba Keranjang &amp; Stok: Memastikan stok produk terpotong dengan jumlah yang tepat saat pesanan dibuat dan bertambah kembali ketika pesanan dibatalkan.</a:t>
            </a:r>
          </a:p>
          <a:p>
            <a:pPr algn="just" marL="885872" indent="-295291" lvl="2">
              <a:lnSpc>
                <a:spcPts val="2872"/>
              </a:lnSpc>
              <a:buAutoNum type="alphaLcPeriod" startAt="1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Uji Coba Validasi Ulasan: Menguji pembeli agar tidak dapat mereview produk sebelum pesanan selesai terkirim (Delivered), menghindari error database Foreign Key.</a:t>
            </a:r>
          </a:p>
          <a:p>
            <a:pPr algn="just" marL="949959" indent="-316653" lvl="2">
              <a:lnSpc>
                <a:spcPts val="3079"/>
              </a:lnSpc>
              <a:buAutoNum type="alphaLcPeriod" startAt="1"/>
            </a:pPr>
            <a:r>
              <a:rPr lang="en-US" sz="219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Uji Coba Pengalihan (Redirects): Memastikan pengalihan halaman pasca login berjalan tepat sesuai dengan role masing-masing pengguna.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80639" y="2093993"/>
            <a:ext cx="5940823" cy="42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32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Tugas Besar Pemrograman Web | F4A4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9621" y="8052153"/>
            <a:ext cx="1205198" cy="53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9"/>
              </a:lnSpc>
            </a:pPr>
            <a:r>
              <a:rPr lang="en-US" sz="2870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13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783890" y="2205390"/>
            <a:ext cx="276935" cy="276935"/>
          </a:xfrm>
          <a:custGeom>
            <a:avLst/>
            <a:gdLst/>
            <a:ahLst/>
            <a:cxnLst/>
            <a:rect r="r" b="b" t="t" l="l"/>
            <a:pathLst>
              <a:path h="276935" w="276935">
                <a:moveTo>
                  <a:pt x="0" y="0"/>
                </a:moveTo>
                <a:lnTo>
                  <a:pt x="276935" y="0"/>
                </a:lnTo>
                <a:lnTo>
                  <a:pt x="276935" y="276936"/>
                </a:lnTo>
                <a:lnTo>
                  <a:pt x="0" y="276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16317266" y="8091485"/>
            <a:ext cx="497377" cy="497377"/>
          </a:xfrm>
          <a:custGeom>
            <a:avLst/>
            <a:gdLst/>
            <a:ahLst/>
            <a:cxnLst/>
            <a:rect r="r" b="b" t="t" l="l"/>
            <a:pathLst>
              <a:path h="497377" w="497377">
                <a:moveTo>
                  <a:pt x="497377" y="0"/>
                </a:moveTo>
                <a:lnTo>
                  <a:pt x="0" y="0"/>
                </a:lnTo>
                <a:lnTo>
                  <a:pt x="0" y="497377"/>
                </a:lnTo>
                <a:lnTo>
                  <a:pt x="497377" y="497377"/>
                </a:lnTo>
                <a:lnTo>
                  <a:pt x="49737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04166" y="6111542"/>
            <a:ext cx="10981800" cy="109818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A5E">
                <a:alpha val="6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10366" y="-6806342"/>
            <a:ext cx="10981800" cy="109818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7667">
                <a:alpha val="6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20818" y="959392"/>
            <a:ext cx="17046364" cy="8368215"/>
          </a:xfrm>
          <a:custGeom>
            <a:avLst/>
            <a:gdLst/>
            <a:ahLst/>
            <a:cxnLst/>
            <a:rect r="r" b="b" t="t" l="l"/>
            <a:pathLst>
              <a:path h="8368215" w="17046364">
                <a:moveTo>
                  <a:pt x="0" y="0"/>
                </a:moveTo>
                <a:lnTo>
                  <a:pt x="17046364" y="0"/>
                </a:lnTo>
                <a:lnTo>
                  <a:pt x="17046364" y="8368216"/>
                </a:lnTo>
                <a:lnTo>
                  <a:pt x="0" y="83682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40899" y="3378662"/>
            <a:ext cx="12819926" cy="1127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8"/>
              </a:lnSpc>
            </a:pPr>
            <a:r>
              <a:rPr lang="en-US" sz="6606" b="true">
                <a:solidFill>
                  <a:srgbClr val="52391E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KENDALA &amp; SOLUSI</a:t>
            </a:r>
          </a:p>
        </p:txBody>
      </p:sp>
      <p:sp>
        <p:nvSpPr>
          <p:cNvPr name="AutoShape 10" id="10"/>
          <p:cNvSpPr/>
          <p:nvPr/>
        </p:nvSpPr>
        <p:spPr>
          <a:xfrm>
            <a:off x="3240899" y="4506263"/>
            <a:ext cx="10677983" cy="0"/>
          </a:xfrm>
          <a:prstGeom prst="line">
            <a:avLst/>
          </a:prstGeom>
          <a:ln cap="flat" w="19050">
            <a:solidFill>
              <a:srgbClr val="6B50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802133" y="4557389"/>
            <a:ext cx="14683735" cy="3032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2"/>
              </a:lnSpc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Kendala 1: Redireksi URL Tidak Fleksibel ($baseUrl Hardcoded):</a:t>
            </a:r>
          </a:p>
          <a:p>
            <a:pPr algn="just" marL="442936" indent="-221468" lvl="1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Masalah: Link halaman 404 ketika proyek diletakkan di subfolder XAMPP dengan nama yang berbeda.</a:t>
            </a:r>
          </a:p>
          <a:p>
            <a:pPr algn="just" marL="442936" indent="-221468" lvl="1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S</a:t>
            </a: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olusi: Mengubah base</a:t>
            </a: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U</a:t>
            </a: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r</a:t>
            </a: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l</a:t>
            </a: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menjadidinamismenggunakan‘_SERVER['S</a:t>
            </a: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CRIPT_NAME']` untuk mendeteksi folder secara otomatis.</a:t>
            </a:r>
          </a:p>
          <a:p>
            <a:pPr algn="just">
              <a:lnSpc>
                <a:spcPts val="3079"/>
              </a:lnSpc>
            </a:pPr>
            <a:r>
              <a:rPr lang="en-US" sz="219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Kendala 2: Error "Headers Already Sent":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Masalah: Pengalihan halaman (header("Location: ...")) gagal/crash karena halaman sudah mengirim output HTML.</a:t>
            </a:r>
          </a:p>
          <a:p>
            <a:pPr algn="just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Solusi: Mengaktifkan Output Buffering di baris teratas file konfigurasi database menggunakan ob_start().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80639" y="2093993"/>
            <a:ext cx="6086151" cy="42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32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Tugas Besar Pemrograman Web | F4A4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9621" y="8052153"/>
            <a:ext cx="1205198" cy="53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9"/>
              </a:lnSpc>
            </a:pPr>
            <a:r>
              <a:rPr lang="en-US" sz="2870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14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783890" y="2205390"/>
            <a:ext cx="276935" cy="276935"/>
          </a:xfrm>
          <a:custGeom>
            <a:avLst/>
            <a:gdLst/>
            <a:ahLst/>
            <a:cxnLst/>
            <a:rect r="r" b="b" t="t" l="l"/>
            <a:pathLst>
              <a:path h="276935" w="276935">
                <a:moveTo>
                  <a:pt x="0" y="0"/>
                </a:moveTo>
                <a:lnTo>
                  <a:pt x="276935" y="0"/>
                </a:lnTo>
                <a:lnTo>
                  <a:pt x="276935" y="276936"/>
                </a:lnTo>
                <a:lnTo>
                  <a:pt x="0" y="276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16317266" y="8091485"/>
            <a:ext cx="497377" cy="497377"/>
          </a:xfrm>
          <a:custGeom>
            <a:avLst/>
            <a:gdLst/>
            <a:ahLst/>
            <a:cxnLst/>
            <a:rect r="r" b="b" t="t" l="l"/>
            <a:pathLst>
              <a:path h="497377" w="497377">
                <a:moveTo>
                  <a:pt x="497377" y="0"/>
                </a:moveTo>
                <a:lnTo>
                  <a:pt x="0" y="0"/>
                </a:lnTo>
                <a:lnTo>
                  <a:pt x="0" y="497377"/>
                </a:lnTo>
                <a:lnTo>
                  <a:pt x="497377" y="497377"/>
                </a:lnTo>
                <a:lnTo>
                  <a:pt x="49737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04166" y="6111542"/>
            <a:ext cx="10981800" cy="109818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A5E">
                <a:alpha val="6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10366" y="-6806342"/>
            <a:ext cx="10981800" cy="109818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7667">
                <a:alpha val="6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20818" y="959392"/>
            <a:ext cx="17046364" cy="8368215"/>
          </a:xfrm>
          <a:custGeom>
            <a:avLst/>
            <a:gdLst/>
            <a:ahLst/>
            <a:cxnLst/>
            <a:rect r="r" b="b" t="t" l="l"/>
            <a:pathLst>
              <a:path h="8368215" w="17046364">
                <a:moveTo>
                  <a:pt x="0" y="0"/>
                </a:moveTo>
                <a:lnTo>
                  <a:pt x="17046364" y="0"/>
                </a:lnTo>
                <a:lnTo>
                  <a:pt x="17046364" y="8368216"/>
                </a:lnTo>
                <a:lnTo>
                  <a:pt x="0" y="83682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40899" y="3378662"/>
            <a:ext cx="12819926" cy="1127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8"/>
              </a:lnSpc>
            </a:pPr>
            <a:r>
              <a:rPr lang="en-US" sz="6606" b="true">
                <a:solidFill>
                  <a:srgbClr val="52391E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KENDALA &amp; SOLUSI</a:t>
            </a:r>
          </a:p>
        </p:txBody>
      </p:sp>
      <p:sp>
        <p:nvSpPr>
          <p:cNvPr name="AutoShape 10" id="10"/>
          <p:cNvSpPr/>
          <p:nvPr/>
        </p:nvSpPr>
        <p:spPr>
          <a:xfrm>
            <a:off x="3240899" y="4506263"/>
            <a:ext cx="10677983" cy="0"/>
          </a:xfrm>
          <a:prstGeom prst="line">
            <a:avLst/>
          </a:prstGeom>
          <a:ln cap="flat" w="19050">
            <a:solidFill>
              <a:srgbClr val="6B50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1802133" y="4763438"/>
            <a:ext cx="14683735" cy="1471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72"/>
              </a:lnSpc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Kendala 3: Masalah Desain Navbar Blending (Kamuflase):</a:t>
            </a:r>
          </a:p>
          <a:p>
            <a:pPr algn="just" marL="442936" indent="-221468" lvl="1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Masalah: Teks logo dan tombol navigasi berwarna putih redup sehingga tidak terbaca jelas pada latar belakang.</a:t>
            </a:r>
          </a:p>
          <a:p>
            <a:pPr algn="just" marL="442936" indent="-221468" lvl="1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S</a:t>
            </a: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olusi: Mengubah navbar menjadi</a:t>
            </a: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 putih bersih (bg-whit</a:t>
            </a: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e &amp; navbar-light) dan menerapkan logo h</a:t>
            </a: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ijau tegas (text-green &amp; text-success) yang mewah dan kontras tinggi.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80639" y="2093993"/>
            <a:ext cx="5650167" cy="42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32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Tugas Besar Pemrograman Web | F4A4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9621" y="8052153"/>
            <a:ext cx="1205198" cy="53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9"/>
              </a:lnSpc>
            </a:pPr>
            <a:r>
              <a:rPr lang="en-US" sz="2870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15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783890" y="2205390"/>
            <a:ext cx="276935" cy="276935"/>
          </a:xfrm>
          <a:custGeom>
            <a:avLst/>
            <a:gdLst/>
            <a:ahLst/>
            <a:cxnLst/>
            <a:rect r="r" b="b" t="t" l="l"/>
            <a:pathLst>
              <a:path h="276935" w="276935">
                <a:moveTo>
                  <a:pt x="0" y="0"/>
                </a:moveTo>
                <a:lnTo>
                  <a:pt x="276935" y="0"/>
                </a:lnTo>
                <a:lnTo>
                  <a:pt x="276935" y="276936"/>
                </a:lnTo>
                <a:lnTo>
                  <a:pt x="0" y="276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16317266" y="8091485"/>
            <a:ext cx="497377" cy="497377"/>
          </a:xfrm>
          <a:custGeom>
            <a:avLst/>
            <a:gdLst/>
            <a:ahLst/>
            <a:cxnLst/>
            <a:rect r="r" b="b" t="t" l="l"/>
            <a:pathLst>
              <a:path h="497377" w="497377">
                <a:moveTo>
                  <a:pt x="497377" y="0"/>
                </a:moveTo>
                <a:lnTo>
                  <a:pt x="0" y="0"/>
                </a:lnTo>
                <a:lnTo>
                  <a:pt x="0" y="497377"/>
                </a:lnTo>
                <a:lnTo>
                  <a:pt x="497377" y="497377"/>
                </a:lnTo>
                <a:lnTo>
                  <a:pt x="49737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04166" y="6111542"/>
            <a:ext cx="10981800" cy="109818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A5E">
                <a:alpha val="6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10366" y="-6806342"/>
            <a:ext cx="10981800" cy="109818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7667">
                <a:alpha val="6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20818" y="959392"/>
            <a:ext cx="17046364" cy="8368215"/>
          </a:xfrm>
          <a:custGeom>
            <a:avLst/>
            <a:gdLst/>
            <a:ahLst/>
            <a:cxnLst/>
            <a:rect r="r" b="b" t="t" l="l"/>
            <a:pathLst>
              <a:path h="8368215" w="17046364">
                <a:moveTo>
                  <a:pt x="0" y="0"/>
                </a:moveTo>
                <a:lnTo>
                  <a:pt x="17046364" y="0"/>
                </a:lnTo>
                <a:lnTo>
                  <a:pt x="17046364" y="8368216"/>
                </a:lnTo>
                <a:lnTo>
                  <a:pt x="0" y="83682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240899" y="3378662"/>
            <a:ext cx="12819926" cy="1127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8"/>
              </a:lnSpc>
            </a:pPr>
            <a:r>
              <a:rPr lang="en-US" sz="6606" b="true">
                <a:solidFill>
                  <a:srgbClr val="52391E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KESIMPULAN</a:t>
            </a:r>
          </a:p>
        </p:txBody>
      </p:sp>
      <p:sp>
        <p:nvSpPr>
          <p:cNvPr name="AutoShape 10" id="10"/>
          <p:cNvSpPr/>
          <p:nvPr/>
        </p:nvSpPr>
        <p:spPr>
          <a:xfrm>
            <a:off x="3240899" y="4506263"/>
            <a:ext cx="10677983" cy="0"/>
          </a:xfrm>
          <a:prstGeom prst="line">
            <a:avLst/>
          </a:prstGeom>
          <a:ln cap="flat" w="19050">
            <a:solidFill>
              <a:srgbClr val="6B503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2674100" y="4975547"/>
            <a:ext cx="12939800" cy="2195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42936" indent="-221468" lvl="1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Sistem yang Terintegrasi: Proyek FreshMart Online sukses dikembangkan menjadi platform e-commerce produk segar yang aman, </a:t>
            </a: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andal, dan responsif.</a:t>
            </a:r>
          </a:p>
          <a:p>
            <a:pPr algn="just" marL="442936" indent="-221468" lvl="1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Otomatisasi Berhasil: Penerapan otomatisasi sistem (stok, ongkir flat, notifikasi, invoice) terbukti mempermudah operasional penjual, pembeli, dan admin.</a:t>
            </a:r>
          </a:p>
          <a:p>
            <a:pPr algn="just" marL="442936" indent="-221468" lvl="1">
              <a:lnSpc>
                <a:spcPts val="2872"/>
              </a:lnSpc>
              <a:buFont typeface="Arial"/>
              <a:buChar char="•"/>
            </a:pP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Kode Bersih &amp; Mudah Dikembangkan: Penulisan kode yang modular menggunakan</a:t>
            </a: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 PHP PDO mempermudah maint</a:t>
            </a: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enance sistem dan penambahan f</a:t>
            </a:r>
            <a:r>
              <a:rPr lang="en-US" sz="2051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itur baru di masa yang akan datang.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80639" y="2093993"/>
            <a:ext cx="5940823" cy="42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32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Tugas Besar Pemrograman Web | F4A4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9621" y="8052153"/>
            <a:ext cx="1205198" cy="536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9"/>
              </a:lnSpc>
            </a:pPr>
            <a:r>
              <a:rPr lang="en-US" sz="2870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16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783890" y="2205390"/>
            <a:ext cx="276935" cy="276935"/>
          </a:xfrm>
          <a:custGeom>
            <a:avLst/>
            <a:gdLst/>
            <a:ahLst/>
            <a:cxnLst/>
            <a:rect r="r" b="b" t="t" l="l"/>
            <a:pathLst>
              <a:path h="276935" w="276935">
                <a:moveTo>
                  <a:pt x="0" y="0"/>
                </a:moveTo>
                <a:lnTo>
                  <a:pt x="276935" y="0"/>
                </a:lnTo>
                <a:lnTo>
                  <a:pt x="276935" y="276936"/>
                </a:lnTo>
                <a:lnTo>
                  <a:pt x="0" y="276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true" flipV="false" rot="0">
            <a:off x="16317266" y="8091485"/>
            <a:ext cx="497377" cy="497377"/>
          </a:xfrm>
          <a:custGeom>
            <a:avLst/>
            <a:gdLst/>
            <a:ahLst/>
            <a:cxnLst/>
            <a:rect r="r" b="b" t="t" l="l"/>
            <a:pathLst>
              <a:path h="497377" w="497377">
                <a:moveTo>
                  <a:pt x="497377" y="0"/>
                </a:moveTo>
                <a:lnTo>
                  <a:pt x="0" y="0"/>
                </a:lnTo>
                <a:lnTo>
                  <a:pt x="0" y="497377"/>
                </a:lnTo>
                <a:lnTo>
                  <a:pt x="497377" y="497377"/>
                </a:lnTo>
                <a:lnTo>
                  <a:pt x="49737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EC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304166" y="6111542"/>
            <a:ext cx="10981800" cy="10981800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BA5E">
                <a:alpha val="60000"/>
              </a:srgbClr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610366" y="-6806342"/>
            <a:ext cx="10981800" cy="109818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7667">
                <a:alpha val="60000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0"/>
              <a:ext cx="6604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61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20818" y="959392"/>
            <a:ext cx="17046364" cy="8368215"/>
          </a:xfrm>
          <a:custGeom>
            <a:avLst/>
            <a:gdLst/>
            <a:ahLst/>
            <a:cxnLst/>
            <a:rect r="r" b="b" t="t" l="l"/>
            <a:pathLst>
              <a:path h="8368215" w="17046364">
                <a:moveTo>
                  <a:pt x="0" y="0"/>
                </a:moveTo>
                <a:lnTo>
                  <a:pt x="17046364" y="0"/>
                </a:lnTo>
                <a:lnTo>
                  <a:pt x="17046364" y="8368216"/>
                </a:lnTo>
                <a:lnTo>
                  <a:pt x="0" y="83682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783890" y="2205390"/>
            <a:ext cx="276935" cy="276935"/>
          </a:xfrm>
          <a:custGeom>
            <a:avLst/>
            <a:gdLst/>
            <a:ahLst/>
            <a:cxnLst/>
            <a:rect r="r" b="b" t="t" l="l"/>
            <a:pathLst>
              <a:path h="276935" w="276935">
                <a:moveTo>
                  <a:pt x="0" y="0"/>
                </a:moveTo>
                <a:lnTo>
                  <a:pt x="276935" y="0"/>
                </a:lnTo>
                <a:lnTo>
                  <a:pt x="276935" y="276936"/>
                </a:lnTo>
                <a:lnTo>
                  <a:pt x="0" y="276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365642" y="4222609"/>
            <a:ext cx="13556715" cy="2048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63"/>
              </a:lnSpc>
            </a:pPr>
            <a:r>
              <a:rPr lang="en-US" b="true" sz="11973">
                <a:solidFill>
                  <a:srgbClr val="52391E"/>
                </a:solidFill>
                <a:latin typeface="Pragmatica Bold"/>
                <a:ea typeface="Pragmatica Bold"/>
                <a:cs typeface="Pragmatica Bold"/>
                <a:sym typeface="Pragmatica Bold"/>
              </a:rPr>
              <a:t>THANK YOU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980639" y="2093993"/>
            <a:ext cx="6013487" cy="423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61"/>
              </a:lnSpc>
            </a:pPr>
            <a:r>
              <a:rPr lang="en-US" sz="2329">
                <a:solidFill>
                  <a:srgbClr val="52391E"/>
                </a:solidFill>
                <a:latin typeface="Codec Pro"/>
                <a:ea typeface="Codec Pro"/>
                <a:cs typeface="Codec Pro"/>
                <a:sym typeface="Codec Pro"/>
              </a:rPr>
              <a:t>Tugas Besar Pemrograman Web | F4A4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DAHPQU73bbA</dc:identifier>
  <dcterms:modified xsi:type="dcterms:W3CDTF">2011-08-01T06:04:30Z</dcterms:modified>
  <cp:revision>1</cp:revision>
  <dc:title>Freshmart</dc:title>
</cp:coreProperties>
</file>